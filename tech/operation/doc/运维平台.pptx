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1" r:id="rId1"/>
    <p:sldMasterId id="2147483674" r:id="rId2"/>
  </p:sldMasterIdLst>
  <p:notesMasterIdLst>
    <p:notesMasterId r:id="rId17"/>
  </p:notesMasterIdLst>
  <p:sldIdLst>
    <p:sldId id="256" r:id="rId3"/>
    <p:sldId id="269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858750" cy="723265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6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60" autoAdjust="0"/>
  </p:normalViewPr>
  <p:slideViewPr>
    <p:cSldViewPr snapToGrid="0">
      <p:cViewPr varScale="1">
        <p:scale>
          <a:sx n="80" d="100"/>
          <a:sy n="80" d="100"/>
        </p:scale>
        <p:origin x="586" y="5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latin typeface="Arial"/>
              </a:rPr>
              <a:t>单击鼠标移动幻灯片</a:t>
            </a: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2000" b="0" strike="noStrike" spc="-1">
                <a:latin typeface="Arial"/>
              </a:rPr>
              <a:t>单击编辑备注格式</a:t>
            </a:r>
          </a:p>
        </p:txBody>
      </p:sp>
      <p:sp>
        <p:nvSpPr>
          <p:cNvPr id="11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1400" b="0" strike="noStrike" spc="-1">
                <a:latin typeface="Times New Roman"/>
              </a:rPr>
              <a:t>&lt;页眉&gt;</a:t>
            </a:r>
          </a:p>
        </p:txBody>
      </p:sp>
      <p:sp>
        <p:nvSpPr>
          <p:cNvPr id="117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/>
          <a:lstStyle/>
          <a:p>
            <a:pPr algn="r"/>
            <a:r>
              <a:rPr lang="en-US" sz="1400" b="0" strike="noStrike" spc="-1">
                <a:latin typeface="Times New Roman"/>
              </a:rPr>
              <a:t>&lt;日期/时间&gt;</a:t>
            </a:r>
          </a:p>
        </p:txBody>
      </p:sp>
      <p:sp>
        <p:nvSpPr>
          <p:cNvPr id="118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 sz="1400" b="0" strike="noStrike" spc="-1">
                <a:latin typeface="Times New Roman"/>
              </a:rPr>
              <a:t>&lt;页脚&gt;</a:t>
            </a:r>
          </a:p>
        </p:txBody>
      </p:sp>
      <p:sp>
        <p:nvSpPr>
          <p:cNvPr id="119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/>
            <a:fld id="{132B220B-BD35-4A54-A035-A89DD45CC1B1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51830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4413" cy="3427413"/>
          </a:xfrm>
          <a:prstGeom prst="rect">
            <a:avLst/>
          </a:prstGeom>
        </p:spPr>
      </p:sp>
      <p:sp>
        <p:nvSpPr>
          <p:cNvPr id="14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49" name="CustomShape 3"/>
          <p:cNvSpPr/>
          <p:nvPr/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40B997EF-8F62-4EF7-837A-DAF0A633886A}" type="slidenum">
              <a:rPr lang="en-US" sz="1200" b="0" strike="noStrike" spc="-1">
                <a:solidFill>
                  <a:srgbClr val="000000"/>
                </a:solidFill>
                <a:latin typeface="Calibri"/>
                <a:ea typeface="宋体"/>
              </a:rPr>
              <a:t>11</a:t>
            </a:fld>
            <a:endParaRPr lang="en-US" sz="1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386801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0880" y="685800"/>
            <a:ext cx="6094440" cy="3427560"/>
          </a:xfrm>
          <a:prstGeom prst="rect">
            <a:avLst/>
          </a:prstGeom>
        </p:spPr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52" name="CustomShape 3"/>
          <p:cNvSpPr/>
          <p:nvPr/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3A411C37-A559-4BBB-973F-F21A4A9F9EA1}" type="slidenum">
              <a:rPr lang="en-US" sz="1200" b="0" strike="noStrike" spc="-1">
                <a:solidFill>
                  <a:srgbClr val="000000"/>
                </a:solidFill>
                <a:latin typeface="Calibri"/>
                <a:ea typeface="宋体"/>
              </a:rPr>
              <a:t>12</a:t>
            </a:fld>
            <a:endParaRPr lang="en-US" sz="1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230352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0880" y="685800"/>
            <a:ext cx="6094440" cy="3427560"/>
          </a:xfrm>
          <a:prstGeom prst="rect">
            <a:avLst/>
          </a:prstGeom>
        </p:spPr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55" name="CustomShape 3"/>
          <p:cNvSpPr/>
          <p:nvPr/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4316AC75-7AA3-40DB-93C5-63A236CF8C99}" type="slidenum">
              <a:rPr lang="en-US" sz="1200" b="0" strike="noStrike" spc="-1">
                <a:solidFill>
                  <a:srgbClr val="000000"/>
                </a:solidFill>
                <a:latin typeface="Calibri"/>
                <a:ea typeface="宋体"/>
              </a:rPr>
              <a:t>13</a:t>
            </a:fld>
            <a:endParaRPr lang="en-US" sz="1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72048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42600" y="288360"/>
            <a:ext cx="11572560" cy="12074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642600" y="1692360"/>
            <a:ext cx="11572560" cy="41943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42600" y="288360"/>
            <a:ext cx="11572560" cy="12074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42600" y="1692360"/>
            <a:ext cx="11572560" cy="4194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42600" y="288360"/>
            <a:ext cx="11572560" cy="12074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42600" y="1692360"/>
            <a:ext cx="5647320" cy="4194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6572520" y="1692360"/>
            <a:ext cx="5647320" cy="4194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42600" y="288360"/>
            <a:ext cx="11572560" cy="12074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642600" y="288360"/>
            <a:ext cx="11572560" cy="55983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42600" y="288360"/>
            <a:ext cx="11572560" cy="12074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42600" y="1692360"/>
            <a:ext cx="5647320" cy="2000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6572520" y="1692360"/>
            <a:ext cx="5647320" cy="4194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42600" y="3883320"/>
            <a:ext cx="5647320" cy="2000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42600" y="288360"/>
            <a:ext cx="11572560" cy="12074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642600" y="1692360"/>
            <a:ext cx="5647320" cy="4194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6572520" y="1692360"/>
            <a:ext cx="5647320" cy="2000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6572520" y="3883320"/>
            <a:ext cx="5647320" cy="2000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42600" y="288360"/>
            <a:ext cx="11572560" cy="12074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642600" y="1692360"/>
            <a:ext cx="5647320" cy="2000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6572520" y="1692360"/>
            <a:ext cx="5647320" cy="2000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642600" y="3883320"/>
            <a:ext cx="11572560" cy="2000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42600" y="288360"/>
            <a:ext cx="11572560" cy="12074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42600" y="1692360"/>
            <a:ext cx="11572560" cy="2000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642600" y="3883320"/>
            <a:ext cx="11572560" cy="2000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42600" y="288360"/>
            <a:ext cx="11572560" cy="12074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42600" y="1692360"/>
            <a:ext cx="5647320" cy="2000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6572520" y="1692360"/>
            <a:ext cx="5647320" cy="2000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642600" y="3883320"/>
            <a:ext cx="5647320" cy="2000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6572520" y="3883320"/>
            <a:ext cx="5647320" cy="2000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42600" y="288360"/>
            <a:ext cx="11572560" cy="12074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642600" y="1692360"/>
            <a:ext cx="3726000" cy="2000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4555440" y="1692360"/>
            <a:ext cx="3726000" cy="2000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8467920" y="1692360"/>
            <a:ext cx="3726000" cy="2000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642600" y="3883320"/>
            <a:ext cx="3726000" cy="2000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4555440" y="3883320"/>
            <a:ext cx="3726000" cy="2000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8467920" y="3883320"/>
            <a:ext cx="3726000" cy="2000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642600" y="288360"/>
            <a:ext cx="11572560" cy="12074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ubTitle"/>
          </p:nvPr>
        </p:nvSpPr>
        <p:spPr>
          <a:xfrm>
            <a:off x="642600" y="1692360"/>
            <a:ext cx="11572560" cy="41943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642600" y="288360"/>
            <a:ext cx="11572560" cy="12074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642600" y="1692360"/>
            <a:ext cx="11572560" cy="4194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642600" y="288360"/>
            <a:ext cx="11572560" cy="12074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642600" y="1692360"/>
            <a:ext cx="5647320" cy="4194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6572520" y="1692360"/>
            <a:ext cx="5647320" cy="4194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642600" y="288360"/>
            <a:ext cx="11572560" cy="12074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ubTitle"/>
          </p:nvPr>
        </p:nvSpPr>
        <p:spPr>
          <a:xfrm>
            <a:off x="642600" y="288360"/>
            <a:ext cx="11572560" cy="55983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642600" y="288360"/>
            <a:ext cx="11572560" cy="12074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642600" y="1692360"/>
            <a:ext cx="5647320" cy="2000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6572520" y="1692360"/>
            <a:ext cx="5647320" cy="4194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body"/>
          </p:nvPr>
        </p:nvSpPr>
        <p:spPr>
          <a:xfrm>
            <a:off x="642600" y="3883320"/>
            <a:ext cx="5647320" cy="2000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42600" y="288360"/>
            <a:ext cx="11572560" cy="12074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642600" y="1692360"/>
            <a:ext cx="5647320" cy="4194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6572520" y="1692360"/>
            <a:ext cx="5647320" cy="2000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body"/>
          </p:nvPr>
        </p:nvSpPr>
        <p:spPr>
          <a:xfrm>
            <a:off x="6572520" y="3883320"/>
            <a:ext cx="5647320" cy="2000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642600" y="288360"/>
            <a:ext cx="11572560" cy="12074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642600" y="1692360"/>
            <a:ext cx="5647320" cy="2000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body"/>
          </p:nvPr>
        </p:nvSpPr>
        <p:spPr>
          <a:xfrm>
            <a:off x="6572520" y="1692360"/>
            <a:ext cx="5647320" cy="2000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body"/>
          </p:nvPr>
        </p:nvSpPr>
        <p:spPr>
          <a:xfrm>
            <a:off x="642600" y="3883320"/>
            <a:ext cx="11572560" cy="2000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642600" y="288360"/>
            <a:ext cx="11572560" cy="12074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642600" y="1692360"/>
            <a:ext cx="11572560" cy="2000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642600" y="3883320"/>
            <a:ext cx="11572560" cy="2000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42600" y="288360"/>
            <a:ext cx="11572560" cy="12074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642600" y="1692360"/>
            <a:ext cx="5647320" cy="2000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6572520" y="1692360"/>
            <a:ext cx="5647320" cy="2000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 type="body"/>
          </p:nvPr>
        </p:nvSpPr>
        <p:spPr>
          <a:xfrm>
            <a:off x="642600" y="3883320"/>
            <a:ext cx="5647320" cy="2000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6" name="PlaceHolder 5"/>
          <p:cNvSpPr>
            <a:spLocks noGrp="1"/>
          </p:cNvSpPr>
          <p:nvPr>
            <p:ph type="body"/>
          </p:nvPr>
        </p:nvSpPr>
        <p:spPr>
          <a:xfrm>
            <a:off x="6572520" y="3883320"/>
            <a:ext cx="5647320" cy="2000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642600" y="288360"/>
            <a:ext cx="11572560" cy="12074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642600" y="1692360"/>
            <a:ext cx="3726000" cy="2000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body"/>
          </p:nvPr>
        </p:nvSpPr>
        <p:spPr>
          <a:xfrm>
            <a:off x="4555440" y="1692360"/>
            <a:ext cx="3726000" cy="2000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body"/>
          </p:nvPr>
        </p:nvSpPr>
        <p:spPr>
          <a:xfrm>
            <a:off x="8467920" y="1692360"/>
            <a:ext cx="3726000" cy="2000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 type="body"/>
          </p:nvPr>
        </p:nvSpPr>
        <p:spPr>
          <a:xfrm>
            <a:off x="642600" y="3883320"/>
            <a:ext cx="3726000" cy="2000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2" name="PlaceHolder 6"/>
          <p:cNvSpPr>
            <a:spLocks noGrp="1"/>
          </p:cNvSpPr>
          <p:nvPr>
            <p:ph type="body"/>
          </p:nvPr>
        </p:nvSpPr>
        <p:spPr>
          <a:xfrm>
            <a:off x="4555440" y="3883320"/>
            <a:ext cx="3726000" cy="2000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3" name="PlaceHolder 7"/>
          <p:cNvSpPr>
            <a:spLocks noGrp="1"/>
          </p:cNvSpPr>
          <p:nvPr>
            <p:ph type="body"/>
          </p:nvPr>
        </p:nvSpPr>
        <p:spPr>
          <a:xfrm>
            <a:off x="8467920" y="3883320"/>
            <a:ext cx="3726000" cy="2000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60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42600" y="288360"/>
            <a:ext cx="11572560" cy="12074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latin typeface="Arial"/>
              </a:rPr>
              <a:t>单击鼠标编辑标题文字格式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642600" y="1692360"/>
            <a:ext cx="11572560" cy="4194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单击鼠标编辑大纲文字格式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第二个大纲级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第三大纲级别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第四大纲级别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第五大纲级别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第六大纲级别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第七大纲级别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60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42600" y="288360"/>
            <a:ext cx="11572560" cy="12074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latin typeface="Arial"/>
              </a:rPr>
              <a:t>单击鼠标编辑标题文字格式</a:t>
            </a: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642600" y="1692360"/>
            <a:ext cx="11572560" cy="4194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单击鼠标编辑大纲文字格式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第二个大纲级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第三大纲级别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第四大纲级别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第五大纲级别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第六大纲级别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第七大纲级别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图片 119"/>
          <p:cNvPicPr/>
          <p:nvPr/>
        </p:nvPicPr>
        <p:blipFill>
          <a:blip r:embed="rId2"/>
          <a:stretch/>
        </p:blipFill>
        <p:spPr>
          <a:xfrm>
            <a:off x="36360" y="23760"/>
            <a:ext cx="12858480" cy="71960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3025" y="88335"/>
            <a:ext cx="11572560" cy="1207440"/>
          </a:xfrm>
        </p:spPr>
        <p:txBody>
          <a:bodyPr/>
          <a:lstStyle/>
          <a:p>
            <a:pPr algn="ctr"/>
            <a:r>
              <a:rPr lang="zh-CN" altLang="en-US" b="1" dirty="0"/>
              <a:t>运维工作</a:t>
            </a:r>
            <a:r>
              <a:rPr lang="zh-CN" altLang="en-US" b="1" dirty="0" smtClean="0"/>
              <a:t>分类</a:t>
            </a:r>
            <a:endParaRPr lang="zh-CN" altLang="en-US" dirty="0"/>
          </a:p>
        </p:txBody>
      </p:sp>
      <p:pic>
        <p:nvPicPr>
          <p:cNvPr id="1030" name="Picture 6" descr="https://user-gold-cdn.xitu.io/2018/3/23/16250c6d173f6467?imageslim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5436" y="1133850"/>
            <a:ext cx="7597238" cy="128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矩形 6"/>
          <p:cNvSpPr/>
          <p:nvPr/>
        </p:nvSpPr>
        <p:spPr>
          <a:xfrm>
            <a:off x="270630" y="2631024"/>
            <a:ext cx="12092325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 smtClean="0"/>
              <a:t>1-</a:t>
            </a:r>
            <a:r>
              <a:rPr lang="zh-CN" altLang="en-US" b="1" dirty="0" smtClean="0"/>
              <a:t>应用运维（</a:t>
            </a:r>
            <a:r>
              <a:rPr lang="en-US" altLang="zh-CN" b="1" dirty="0" smtClean="0"/>
              <a:t>SRE</a:t>
            </a:r>
            <a:r>
              <a:rPr lang="zh-CN" altLang="en-US" b="1" dirty="0" smtClean="0"/>
              <a:t>）：</a:t>
            </a:r>
            <a:r>
              <a:rPr lang="zh-CN" altLang="en-US" dirty="0" smtClean="0"/>
              <a:t>应用运维负责线上服务的变更、服务状态监控、服务容灾和数据备份等工作，对服务进行例行排查、故障应急处理等工作，工作职责如下：设计评审、服务管理、资源管理、例行检查、预案管理、数据备份。</a:t>
            </a:r>
            <a:endParaRPr lang="en-US" altLang="zh-CN" dirty="0" smtClean="0"/>
          </a:p>
          <a:p>
            <a:endParaRPr lang="zh-CN" altLang="en-US" dirty="0" smtClean="0"/>
          </a:p>
          <a:p>
            <a:r>
              <a:rPr lang="en-US" altLang="zh-CN" b="1" dirty="0" smtClean="0"/>
              <a:t>2-</a:t>
            </a:r>
            <a:r>
              <a:rPr lang="zh-CN" altLang="en-US" b="1" dirty="0" smtClean="0"/>
              <a:t>系统运维</a:t>
            </a:r>
            <a:r>
              <a:rPr lang="en-US" altLang="zh-CN" b="1" dirty="0" smtClean="0"/>
              <a:t>(SYS)</a:t>
            </a:r>
            <a:r>
              <a:rPr lang="zh-CN" altLang="en-US" b="1" dirty="0" smtClean="0"/>
              <a:t>：</a:t>
            </a:r>
            <a:r>
              <a:rPr lang="zh-CN" altLang="en-US" dirty="0" smtClean="0"/>
              <a:t>负责</a:t>
            </a:r>
            <a:r>
              <a:rPr lang="en-US" altLang="zh-CN" dirty="0" smtClean="0"/>
              <a:t>IDC</a:t>
            </a:r>
            <a:r>
              <a:rPr lang="zh-CN" altLang="en-US" dirty="0" smtClean="0"/>
              <a:t>、网络、</a:t>
            </a:r>
            <a:r>
              <a:rPr lang="en-US" altLang="zh-CN" dirty="0" smtClean="0"/>
              <a:t>CDN</a:t>
            </a:r>
            <a:r>
              <a:rPr lang="zh-CN" altLang="en-US" dirty="0" smtClean="0"/>
              <a:t>和基础服务的建设（</a:t>
            </a:r>
            <a:r>
              <a:rPr lang="en-US" altLang="zh-CN" dirty="0" smtClean="0"/>
              <a:t>LVS</a:t>
            </a:r>
            <a:r>
              <a:rPr lang="zh-CN" altLang="en-US" dirty="0" smtClean="0"/>
              <a:t>、</a:t>
            </a:r>
            <a:r>
              <a:rPr lang="en-US" altLang="zh-CN" dirty="0" smtClean="0"/>
              <a:t>NTP</a:t>
            </a:r>
            <a:r>
              <a:rPr lang="zh-CN" altLang="en-US" dirty="0" smtClean="0"/>
              <a:t>、</a:t>
            </a:r>
            <a:r>
              <a:rPr lang="en-US" altLang="zh-CN" dirty="0" smtClean="0"/>
              <a:t>DNS</a:t>
            </a:r>
            <a:r>
              <a:rPr lang="zh-CN" altLang="en-US" dirty="0" smtClean="0"/>
              <a:t>）；负责资产管理，服务器选型、交付和维修，工作职责如下：</a:t>
            </a:r>
            <a:r>
              <a:rPr lang="en-US" altLang="zh-CN" dirty="0" smtClean="0"/>
              <a:t>IDC</a:t>
            </a:r>
            <a:r>
              <a:rPr lang="zh-CN" altLang="en-US" dirty="0" smtClean="0"/>
              <a:t>数据中心建设、网络建设、</a:t>
            </a:r>
            <a:r>
              <a:rPr lang="en-US" altLang="zh-CN" dirty="0" smtClean="0"/>
              <a:t>LVS</a:t>
            </a:r>
            <a:r>
              <a:rPr lang="zh-CN" altLang="en-US" dirty="0" smtClean="0"/>
              <a:t>负载均衡和</a:t>
            </a:r>
            <a:r>
              <a:rPr lang="en-US" altLang="zh-CN" dirty="0" smtClean="0"/>
              <a:t>SNAT</a:t>
            </a:r>
            <a:r>
              <a:rPr lang="zh-CN" altLang="en-US" dirty="0" smtClean="0"/>
              <a:t>建设、</a:t>
            </a:r>
            <a:r>
              <a:rPr lang="en-US" altLang="zh-CN" dirty="0" smtClean="0"/>
              <a:t>CDN</a:t>
            </a:r>
            <a:r>
              <a:rPr lang="zh-CN" altLang="en-US" dirty="0" smtClean="0"/>
              <a:t>规划和建设、服务器选型、交付和维护、内核选型和</a:t>
            </a:r>
            <a:r>
              <a:rPr lang="en-US" altLang="zh-CN" dirty="0" smtClean="0"/>
              <a:t>OS</a:t>
            </a:r>
            <a:r>
              <a:rPr lang="zh-CN" altLang="en-US" dirty="0" smtClean="0"/>
              <a:t>相关维护工作、资产管理、基础服务建设。</a:t>
            </a:r>
            <a:endParaRPr lang="en-US" altLang="zh-CN" dirty="0" smtClean="0"/>
          </a:p>
          <a:p>
            <a:endParaRPr lang="zh-CN" altLang="en-US" dirty="0" smtClean="0"/>
          </a:p>
          <a:p>
            <a:r>
              <a:rPr lang="en-US" altLang="zh-CN" b="1" dirty="0" smtClean="0"/>
              <a:t>3-</a:t>
            </a:r>
            <a:r>
              <a:rPr lang="zh-CN" altLang="en-US" b="1" dirty="0" smtClean="0"/>
              <a:t>数据库运维（</a:t>
            </a:r>
            <a:r>
              <a:rPr lang="en-US" altLang="zh-CN" b="1" dirty="0" smtClean="0"/>
              <a:t>DBA</a:t>
            </a:r>
            <a:r>
              <a:rPr lang="zh-CN" altLang="en-US" b="1" dirty="0" smtClean="0"/>
              <a:t>）</a:t>
            </a:r>
            <a:r>
              <a:rPr lang="en-US" altLang="zh-CN" b="1" dirty="0" smtClean="0"/>
              <a:t>:</a:t>
            </a:r>
            <a:r>
              <a:rPr lang="zh-CN" altLang="en-US" dirty="0" smtClean="0"/>
              <a:t>数据库运维负责数据存储方案设计、数据库表设计、索引设计和</a:t>
            </a:r>
            <a:r>
              <a:rPr lang="en-US" altLang="zh-CN" dirty="0" smtClean="0"/>
              <a:t>SQL</a:t>
            </a:r>
            <a:r>
              <a:rPr lang="zh-CN" altLang="en-US" dirty="0" smtClean="0"/>
              <a:t>优化，对数据库进行变更、监控、备份、高可用设计等工作，详细的工作内容如下：设计评审、容量规划、数据备份与灾备、数据库监控、数据库安全、数据库高可用和性能优化、自动化系统建设、运维研发、运维平台、监控系统、自动化部署系统。</a:t>
            </a:r>
            <a:endParaRPr lang="en-US" altLang="zh-CN" dirty="0" smtClean="0"/>
          </a:p>
          <a:p>
            <a:endParaRPr lang="zh-CN" altLang="en-US" dirty="0" smtClean="0"/>
          </a:p>
          <a:p>
            <a:r>
              <a:rPr lang="en-US" altLang="zh-CN" b="1" dirty="0" smtClean="0"/>
              <a:t>4-</a:t>
            </a:r>
            <a:r>
              <a:rPr lang="zh-CN" altLang="en-US" b="1" dirty="0" smtClean="0"/>
              <a:t>运维安全（</a:t>
            </a:r>
            <a:r>
              <a:rPr lang="en-US" altLang="zh-CN" b="1" dirty="0" smtClean="0"/>
              <a:t>SEC</a:t>
            </a:r>
            <a:r>
              <a:rPr lang="zh-CN" altLang="en-US" b="1" dirty="0" smtClean="0"/>
              <a:t>）：</a:t>
            </a:r>
            <a:r>
              <a:rPr lang="zh-CN" altLang="en-US" dirty="0" smtClean="0"/>
              <a:t>运维安全负责网络、系统和业务等方面的安全加固工作，进行常规的安全扫描、渗透测试，进行安全工具和系统研发以及安全事件应急处理，工作内容如下：安全制度建立、安全培训、风险评估、安全建设、安全合规、应急响应。</a:t>
            </a:r>
          </a:p>
        </p:txBody>
      </p:sp>
    </p:spTree>
    <p:extLst>
      <p:ext uri="{BB962C8B-B14F-4D97-AF65-F5344CB8AC3E}">
        <p14:creationId xmlns:p14="http://schemas.microsoft.com/office/powerpoint/2010/main" val="3738503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图片 120"/>
          <p:cNvPicPr/>
          <p:nvPr/>
        </p:nvPicPr>
        <p:blipFill>
          <a:blip r:embed="rId2"/>
          <a:stretch/>
        </p:blipFill>
        <p:spPr>
          <a:xfrm>
            <a:off x="366120" y="844920"/>
            <a:ext cx="12178800" cy="58356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图片 121"/>
          <p:cNvPicPr/>
          <p:nvPr/>
        </p:nvPicPr>
        <p:blipFill>
          <a:blip r:embed="rId2"/>
          <a:stretch/>
        </p:blipFill>
        <p:spPr>
          <a:xfrm>
            <a:off x="574201" y="5023293"/>
            <a:ext cx="11653200" cy="1604520"/>
          </a:xfrm>
          <a:prstGeom prst="rect">
            <a:avLst/>
          </a:prstGeom>
          <a:ln>
            <a:noFill/>
          </a:ln>
        </p:spPr>
      </p:pic>
      <p:pic>
        <p:nvPicPr>
          <p:cNvPr id="2050" name="Picture 2" descr="https://user-gold-cdn.xitu.io/2018/3/23/16250c6d17129426?imageslim"/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rgbClr val="2A6099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6526" y="811182"/>
            <a:ext cx="6705600" cy="4212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图片 122"/>
          <p:cNvPicPr/>
          <p:nvPr/>
        </p:nvPicPr>
        <p:blipFill>
          <a:blip r:embed="rId2"/>
          <a:stretch/>
        </p:blipFill>
        <p:spPr>
          <a:xfrm>
            <a:off x="14760" y="107640"/>
            <a:ext cx="12801240" cy="70416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图片 123"/>
          <p:cNvPicPr/>
          <p:nvPr/>
        </p:nvPicPr>
        <p:blipFill>
          <a:blip r:embed="rId2"/>
          <a:stretch/>
        </p:blipFill>
        <p:spPr>
          <a:xfrm>
            <a:off x="-9720" y="1395360"/>
            <a:ext cx="12858480" cy="47343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图片 124"/>
          <p:cNvPicPr/>
          <p:nvPr/>
        </p:nvPicPr>
        <p:blipFill>
          <a:blip r:embed="rId2"/>
          <a:stretch/>
        </p:blipFill>
        <p:spPr>
          <a:xfrm>
            <a:off x="410040" y="674640"/>
            <a:ext cx="12090960" cy="61761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图片 125"/>
          <p:cNvPicPr/>
          <p:nvPr/>
        </p:nvPicPr>
        <p:blipFill>
          <a:blip r:embed="rId2"/>
          <a:stretch/>
        </p:blipFill>
        <p:spPr>
          <a:xfrm>
            <a:off x="380520" y="63720"/>
            <a:ext cx="12149640" cy="7110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图片 126"/>
          <p:cNvPicPr/>
          <p:nvPr/>
        </p:nvPicPr>
        <p:blipFill>
          <a:blip r:embed="rId2"/>
          <a:stretch/>
        </p:blipFill>
        <p:spPr>
          <a:xfrm>
            <a:off x="288000" y="0"/>
            <a:ext cx="12298680" cy="72316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图片 127"/>
          <p:cNvPicPr/>
          <p:nvPr/>
        </p:nvPicPr>
        <p:blipFill>
          <a:blip r:embed="rId2"/>
          <a:stretch/>
        </p:blipFill>
        <p:spPr>
          <a:xfrm>
            <a:off x="1201680" y="61920"/>
            <a:ext cx="10507680" cy="71406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CustomShape 1"/>
          <p:cNvSpPr/>
          <p:nvPr/>
        </p:nvSpPr>
        <p:spPr>
          <a:xfrm>
            <a:off x="360000" y="287640"/>
            <a:ext cx="1158840" cy="486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0" name="CustomShape 2"/>
          <p:cNvSpPr/>
          <p:nvPr/>
        </p:nvSpPr>
        <p:spPr>
          <a:xfrm>
            <a:off x="216000" y="935640"/>
            <a:ext cx="12452040" cy="5830560"/>
          </a:xfrm>
          <a:prstGeom prst="rect">
            <a:avLst/>
          </a:prstGeom>
          <a:blipFill rotWithShape="0">
            <a:blip r:embed="rId3"/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  <a:ea typeface="DejaVu Sans"/>
              </a:rPr>
              <a:t>几百台服务器怎么管理，完善的管理系统。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CustomShape 1"/>
          <p:cNvSpPr/>
          <p:nvPr/>
        </p:nvSpPr>
        <p:spPr>
          <a:xfrm>
            <a:off x="6922440" y="2180880"/>
            <a:ext cx="1089720" cy="586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480" tIns="48240" rIns="96480" bIns="48240"/>
          <a:lstStyle/>
          <a:p>
            <a:pPr algn="just">
              <a:lnSpc>
                <a:spcPct val="100000"/>
              </a:lnSpc>
            </a:pPr>
            <a:r>
              <a:rPr lang="en-US" sz="1400" b="0" strike="noStrike" spc="-1">
                <a:solidFill>
                  <a:srgbClr val="FFFFFF"/>
                </a:solidFill>
                <a:latin typeface="Arial"/>
                <a:ea typeface="微软雅黑"/>
              </a:rPr>
              <a:t>请替换</a:t>
            </a:r>
            <a:endParaRPr lang="en-US" sz="1400" b="0" strike="noStrike" spc="-1"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en-US" sz="1400" b="0" strike="noStrike" spc="-1">
                <a:solidFill>
                  <a:srgbClr val="FFFFFF"/>
                </a:solidFill>
                <a:latin typeface="Arial"/>
                <a:ea typeface="微软雅黑"/>
              </a:rPr>
              <a:t>文字内容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132" name="CustomShape 2"/>
          <p:cNvSpPr/>
          <p:nvPr/>
        </p:nvSpPr>
        <p:spPr>
          <a:xfrm>
            <a:off x="8258040" y="2180880"/>
            <a:ext cx="3870360" cy="1176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480" tIns="48240" rIns="96480" bIns="48240"/>
          <a:lstStyle/>
          <a:p>
            <a:pPr algn="just">
              <a:lnSpc>
                <a:spcPct val="150000"/>
              </a:lnSpc>
            </a:pPr>
            <a:r>
              <a:rPr lang="en-US" sz="800" b="0" strike="noStrike" spc="-1">
                <a:solidFill>
                  <a:srgbClr val="FFFFFF"/>
                </a:solidFill>
                <a:latin typeface="Arial"/>
                <a:ea typeface="微软雅黑"/>
              </a:rPr>
              <a:t>请替换文字内容，点击添加相关标题文字，修改文字内容，也可以直接复制你的内容到此。请替换文字内容，点击添加相关标题文字，修改文字内容，也可以直接复制你的内容到此。请替换文字内容，点击添加相关标题文字，修改文字内容，也可以直接复制你的内容到此。</a:t>
            </a:r>
            <a:endParaRPr lang="en-US" sz="800" b="0" strike="noStrike" spc="-1">
              <a:latin typeface="Arial"/>
            </a:endParaRPr>
          </a:p>
        </p:txBody>
      </p:sp>
      <p:sp>
        <p:nvSpPr>
          <p:cNvPr id="133" name="CustomShape 3"/>
          <p:cNvSpPr/>
          <p:nvPr/>
        </p:nvSpPr>
        <p:spPr>
          <a:xfrm>
            <a:off x="9715320" y="5679360"/>
            <a:ext cx="1609200" cy="31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480" tIns="48240" rIns="96480" bIns="48240"/>
          <a:lstStyle/>
          <a:p>
            <a:pPr algn="just">
              <a:lnSpc>
                <a:spcPct val="100000"/>
              </a:lnSpc>
            </a:pPr>
            <a:r>
              <a:rPr lang="en-US" sz="1400" b="0" strike="noStrike" spc="-1">
                <a:solidFill>
                  <a:srgbClr val="FFFFFF"/>
                </a:solidFill>
                <a:latin typeface="Arial"/>
                <a:ea typeface="微软雅黑"/>
              </a:rPr>
              <a:t>请替换文字内容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134" name="CustomShape 4"/>
          <p:cNvSpPr/>
          <p:nvPr/>
        </p:nvSpPr>
        <p:spPr>
          <a:xfrm>
            <a:off x="360" y="361440"/>
            <a:ext cx="223560" cy="5853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5" name="CustomShape 5"/>
          <p:cNvSpPr/>
          <p:nvPr/>
        </p:nvSpPr>
        <p:spPr>
          <a:xfrm>
            <a:off x="432720" y="266040"/>
            <a:ext cx="1185120" cy="522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6" name="CustomShape 6"/>
          <p:cNvSpPr/>
          <p:nvPr/>
        </p:nvSpPr>
        <p:spPr>
          <a:xfrm>
            <a:off x="383040" y="730800"/>
            <a:ext cx="2331000" cy="278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137" name="图片 136"/>
          <p:cNvPicPr/>
          <p:nvPr/>
        </p:nvPicPr>
        <p:blipFill>
          <a:blip r:embed="rId3"/>
          <a:stretch/>
        </p:blipFill>
        <p:spPr>
          <a:xfrm>
            <a:off x="409680" y="916560"/>
            <a:ext cx="11325600" cy="4913640"/>
          </a:xfrm>
          <a:prstGeom prst="rect">
            <a:avLst/>
          </a:prstGeom>
          <a:ln>
            <a:noFill/>
          </a:ln>
        </p:spPr>
      </p:pic>
      <p:pic>
        <p:nvPicPr>
          <p:cNvPr id="138" name="图片 137"/>
          <p:cNvPicPr/>
          <p:nvPr/>
        </p:nvPicPr>
        <p:blipFill>
          <a:blip r:embed="rId4"/>
          <a:stretch/>
        </p:blipFill>
        <p:spPr>
          <a:xfrm>
            <a:off x="6233040" y="2879640"/>
            <a:ext cx="6510240" cy="4155480"/>
          </a:xfrm>
          <a:prstGeom prst="rect">
            <a:avLst/>
          </a:prstGeom>
          <a:ln>
            <a:noFill/>
          </a:ln>
        </p:spPr>
      </p:pic>
      <p:sp>
        <p:nvSpPr>
          <p:cNvPr id="139" name="CustomShape 7"/>
          <p:cNvSpPr/>
          <p:nvPr/>
        </p:nvSpPr>
        <p:spPr>
          <a:xfrm>
            <a:off x="4608000" y="957240"/>
            <a:ext cx="3837240" cy="409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完善的监控平台，详细的监控数据。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2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7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CustomShape 1"/>
          <p:cNvSpPr/>
          <p:nvPr/>
        </p:nvSpPr>
        <p:spPr>
          <a:xfrm>
            <a:off x="360" y="361440"/>
            <a:ext cx="223560" cy="5853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1" name="CustomShape 2"/>
          <p:cNvSpPr/>
          <p:nvPr/>
        </p:nvSpPr>
        <p:spPr>
          <a:xfrm>
            <a:off x="757800" y="287640"/>
            <a:ext cx="1185120" cy="522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142" name="图片 141"/>
          <p:cNvPicPr/>
          <p:nvPr/>
        </p:nvPicPr>
        <p:blipFill>
          <a:blip r:embed="rId3"/>
          <a:stretch/>
        </p:blipFill>
        <p:spPr>
          <a:xfrm>
            <a:off x="400320" y="1223640"/>
            <a:ext cx="5286600" cy="5338800"/>
          </a:xfrm>
          <a:prstGeom prst="rect">
            <a:avLst/>
          </a:prstGeom>
          <a:ln>
            <a:noFill/>
          </a:ln>
        </p:spPr>
      </p:pic>
      <p:sp>
        <p:nvSpPr>
          <p:cNvPr id="143" name="CustomShape 3"/>
          <p:cNvSpPr/>
          <p:nvPr/>
        </p:nvSpPr>
        <p:spPr>
          <a:xfrm>
            <a:off x="1296000" y="719640"/>
            <a:ext cx="3837240" cy="409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几百家客户，我可以轻松一建操控。</a:t>
            </a:r>
            <a:endParaRPr lang="en-US" sz="1800" b="0" strike="noStrike" spc="-1">
              <a:latin typeface="Arial"/>
            </a:endParaRPr>
          </a:p>
        </p:txBody>
      </p:sp>
      <p:pic>
        <p:nvPicPr>
          <p:cNvPr id="144" name="图片 143"/>
          <p:cNvPicPr/>
          <p:nvPr/>
        </p:nvPicPr>
        <p:blipFill>
          <a:blip r:embed="rId4"/>
          <a:stretch/>
        </p:blipFill>
        <p:spPr>
          <a:xfrm>
            <a:off x="5256000" y="2238840"/>
            <a:ext cx="7430760" cy="4599360"/>
          </a:xfrm>
          <a:prstGeom prst="rect">
            <a:avLst/>
          </a:prstGeom>
          <a:ln>
            <a:noFill/>
          </a:ln>
        </p:spPr>
      </p:pic>
      <p:sp>
        <p:nvSpPr>
          <p:cNvPr id="145" name="CustomShape 4"/>
          <p:cNvSpPr/>
          <p:nvPr/>
        </p:nvSpPr>
        <p:spPr>
          <a:xfrm>
            <a:off x="8136000" y="1727640"/>
            <a:ext cx="2237040" cy="409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部署客户只是条命令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图片 145"/>
          <p:cNvPicPr/>
          <p:nvPr/>
        </p:nvPicPr>
        <p:blipFill>
          <a:blip r:embed="rId2"/>
          <a:stretch/>
        </p:blipFill>
        <p:spPr>
          <a:xfrm>
            <a:off x="0" y="3660840"/>
            <a:ext cx="12858480" cy="35712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70C0"/>
      </a:accent1>
      <a:accent2>
        <a:srgbClr val="A5A5A5"/>
      </a:accent2>
      <a:accent3>
        <a:srgbClr val="0070C0"/>
      </a:accent3>
      <a:accent4>
        <a:srgbClr val="A5A5A5"/>
      </a:accent4>
      <a:accent5>
        <a:srgbClr val="0070C0"/>
      </a:accent5>
      <a:accent6>
        <a:srgbClr val="A5A5A5"/>
      </a:accent6>
      <a:hlink>
        <a:srgbClr val="0070C0"/>
      </a:hlink>
      <a:folHlink>
        <a:srgbClr val="A5A5A5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70C0"/>
      </a:accent1>
      <a:accent2>
        <a:srgbClr val="A5A5A5"/>
      </a:accent2>
      <a:accent3>
        <a:srgbClr val="0070C0"/>
      </a:accent3>
      <a:accent4>
        <a:srgbClr val="A5A5A5"/>
      </a:accent4>
      <a:accent5>
        <a:srgbClr val="0070C0"/>
      </a:accent5>
      <a:accent6>
        <a:srgbClr val="A5A5A5"/>
      </a:accent6>
      <a:hlink>
        <a:srgbClr val="0070C0"/>
      </a:hlink>
      <a:folHlink>
        <a:srgbClr val="A5A5A5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70C0"/>
      </a:accent1>
      <a:accent2>
        <a:srgbClr val="A5A5A5"/>
      </a:accent2>
      <a:accent3>
        <a:srgbClr val="0070C0"/>
      </a:accent3>
      <a:accent4>
        <a:srgbClr val="A5A5A5"/>
      </a:accent4>
      <a:accent5>
        <a:srgbClr val="0070C0"/>
      </a:accent5>
      <a:accent6>
        <a:srgbClr val="A5A5A5"/>
      </a:accent6>
      <a:hlink>
        <a:srgbClr val="0070C0"/>
      </a:hlink>
      <a:folHlink>
        <a:srgbClr val="A5A5A5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143</TotalTime>
  <Words>352</Words>
  <Application>Microsoft Office PowerPoint</Application>
  <PresentationFormat>自定义</PresentationFormat>
  <Paragraphs>19</Paragraphs>
  <Slides>14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DejaVu Sans</vt:lpstr>
      <vt:lpstr>宋体</vt:lpstr>
      <vt:lpstr>微软雅黑</vt:lpstr>
      <vt:lpstr>Arial</vt:lpstr>
      <vt:lpstr>Calibri</vt:lpstr>
      <vt:lpstr>Symbol</vt:lpstr>
      <vt:lpstr>Times New Roman</vt:lpstr>
      <vt:lpstr>Wingdings</vt:lpstr>
      <vt:lpstr>Office Theme</vt:lpstr>
      <vt:lpstr>Office Theme</vt:lpstr>
      <vt:lpstr>PowerPoint 演示文稿</vt:lpstr>
      <vt:lpstr>运维工作分类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>http /www.ypppt.com</cp:keywords>
  <dc:description/>
  <cp:lastModifiedBy>Administrator</cp:lastModifiedBy>
  <cp:revision>30</cp:revision>
  <dcterms:created xsi:type="dcterms:W3CDTF">2016-09-17T14:53:56Z</dcterms:created>
  <dcterms:modified xsi:type="dcterms:W3CDTF">2019-05-30T06:49:07Z</dcterms:modified>
  <dc:language>zh-CN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15.0000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31</vt:i4>
  </property>
  <property fmtid="{D5CDD505-2E9C-101B-9397-08002B2CF9AE}" pid="8" name="PresentationFormat">
    <vt:lpwstr>自定义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31</vt:i4>
  </property>
</Properties>
</file>